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2920"/>
            <a:ext cx="2560320" cy="310896"/>
          </a:xfrm>
          <a:prstGeom prst="roundRect">
            <a:avLst>
              <a:gd name="adj" fmla="val 23529"/>
            </a:avLst>
          </a:prstGeom>
          <a:solidFill>
            <a:srgbClr val="0C7C86"/>
          </a:solidFill>
          <a:ln w="12700">
            <a:solidFill>
              <a:srgbClr val="0C7C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INTERIM EVIDENCE · 10 OCT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115568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Noise-Calibrated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Explanation Drift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2688336"/>
            <a:ext cx="672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intervention benchmark, and partial real-data evidence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54112" y="1024128"/>
            <a:ext cx="3611880" cy="4389120"/>
          </a:xfrm>
          <a:prstGeom prst="roundRect">
            <a:avLst>
              <a:gd name="adj" fmla="val 2025"/>
            </a:avLst>
          </a:prstGeom>
          <a:solidFill>
            <a:srgbClr val="132D45"/>
          </a:solidFill>
          <a:ln w="12700">
            <a:solidFill>
              <a:srgbClr val="26445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65008" y="1572768"/>
            <a:ext cx="2999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140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8119872" y="2487168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Exp. 3 Phase-I runs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in the local interim slice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56448" y="3374136"/>
            <a:ext cx="2807208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3374136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FINAL FOUR-DATASET RESULT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65592" y="397764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D5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verdict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83296" y="435254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Operable measurement; saturated decision; no established innovation.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3232" y="5879592"/>
            <a:ext cx="10469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target: prediction · forgetting · silent explanation drift · non-suppressive governance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scope: frozen Exp. 2 + interim Exp. 3 subset; full HPC comparison pending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architecture: questions before mechanisms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object is not NCD, OFRA, BARE, SHAP, or a learner swap.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234440"/>
            <a:ext cx="10863072" cy="950976"/>
          </a:xfrm>
          <a:prstGeom prst="roundRect">
            <a:avLst>
              <a:gd name="adj" fmla="val 769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14173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task-free class-incremental NIDS preserve useful predictions while its explanation basis changes silently?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58368" y="2578608"/>
            <a:ext cx="3154680" cy="2578608"/>
          </a:xfrm>
          <a:prstGeom prst="roundRect">
            <a:avLst>
              <a:gd name="adj" fmla="val 2837"/>
            </a:avLst>
          </a:prstGeom>
          <a:solidFill>
            <a:srgbClr val="DDF0F1"/>
          </a:solidFill>
          <a:ln w="12700">
            <a:solidFill>
              <a:srgbClr val="0C7C86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1635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C7C86"/>
          </a:solidFill>
          <a:ln w="12700">
            <a:solidFill>
              <a:srgbClr val="0C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816352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· MANDATORY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319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silent drift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26334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Frequency, magnitude, agreement, and threshold sensitivity across checkpoints.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87368" y="2578608"/>
            <a:ext cx="3154680" cy="2578608"/>
          </a:xfrm>
          <a:prstGeom prst="roundRect">
            <a:avLst>
              <a:gd name="adj" fmla="val 2837"/>
            </a:avLst>
          </a:prstGeom>
          <a:solidFill>
            <a:srgbClr val="E4EFE8"/>
          </a:solidFill>
          <a:ln w="12700">
            <a:solidFill>
              <a:srgbClr val="356B4D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81635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356B4D"/>
          </a:solidFill>
          <a:ln w="12700">
            <a:solidFill>
              <a:srgbClr val="356B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2816352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 · MATCHED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43400" y="3319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Quantify trade-offs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343400" y="3886200"/>
            <a:ext cx="26334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Accuracy, class safety, forgetting, memory, runtime, and explanation cost.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2578608"/>
            <a:ext cx="3154680" cy="2578608"/>
          </a:xfrm>
          <a:prstGeom prst="roundRect">
            <a:avLst>
              <a:gd name="adj" fmla="val 2837"/>
            </a:avLst>
          </a:prstGeom>
          <a:solidFill>
            <a:srgbClr val="F7E7E7"/>
          </a:solidFill>
          <a:ln w="12700">
            <a:solidFill>
              <a:srgbClr val="9B3B3B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0" y="281635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9B3B3B"/>
          </a:solidFill>
          <a:ln w="12700">
            <a:solidFill>
              <a:srgbClr val="9B3B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45552" y="2816352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 · OPEN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3319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governance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772400" y="3886200"/>
            <a:ext cx="26334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Non-suppressive evidence logging with binary decision invariance. Not yet validated.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508760" y="5532120"/>
            <a:ext cx="9162288" cy="621792"/>
          </a:xfrm>
          <a:prstGeom prst="roundRect">
            <a:avLst>
              <a:gd name="adj" fmla="val 11765"/>
            </a:avLst>
          </a:prstGeom>
          <a:solidFill>
            <a:srgbClr val="F7EDD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83080" y="5650992"/>
            <a:ext cx="8613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is a candidate measurement mechanism. A detector gain, threshold, wrapper, or model swap alone cannot satisfy the substantive-innovation gate.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RESEARCH_TARGET_LOCK.md and paper_ncd/paper.tex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\Documents\Codex\2026-07-10\he-l\work\github_private_current\paper_ncd\figures\ncd_method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329184"/>
            <a:ext cx="9637776" cy="6272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 observations → repeated explanations → permutation/FDR → 2-of-3 consensus → non-suppressive audit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Exp. 2: intervention-grounded detector counts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seeds per cell; B2 is the repeat-mean Jaccard control.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353312"/>
            <a:ext cx="15544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71600"/>
            <a:ext cx="1444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12848" y="1353312"/>
            <a:ext cx="118872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67712" y="1371600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353312"/>
            <a:ext cx="1353312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56432" y="1371600"/>
            <a:ext cx="1243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FP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1353312"/>
            <a:ext cx="1298448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137160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FP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53328" y="1353312"/>
            <a:ext cx="1353312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08192" y="1371600"/>
            <a:ext cx="1243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P1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1353312"/>
            <a:ext cx="1298448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504" y="137160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P1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05088" y="1353312"/>
            <a:ext cx="1353312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59952" y="1371600"/>
            <a:ext cx="1243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P2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0" y="1353312"/>
            <a:ext cx="1298448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13264" y="137160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P2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1883664"/>
            <a:ext cx="155448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1901952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12848" y="1883664"/>
            <a:ext cx="118872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67712" y="1901952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01568" y="1883664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1901952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0/34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1883664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9744" y="19019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0/34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53328" y="1883664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08192" y="1901952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06640" y="1883664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61504" y="19019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705088" y="1883664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59952" y="1901952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058400" y="1883664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13264" y="19019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58368" y="2450592"/>
            <a:ext cx="155448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2468880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212848" y="2450592"/>
            <a:ext cx="118872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67712" y="24688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401568" y="2450592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2468880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754880" y="2450592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9744" y="2468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0/30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53328" y="2450592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08192" y="2468880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06640" y="2450592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61504" y="2468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705088" y="2450592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59952" y="2468880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058400" y="2450592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113264" y="24688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58368" y="3017520"/>
            <a:ext cx="155448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" y="3035808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12848" y="3017520"/>
            <a:ext cx="1188720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67712" y="3035808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401568" y="3017520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56432" y="303580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0/20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754880" y="3017520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9744" y="30358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053328" y="3017520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8192" y="303580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7406640" y="3017520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61504" y="30358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05088" y="3017520"/>
            <a:ext cx="1353312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759952" y="303580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10058400" y="3017520"/>
            <a:ext cx="1298448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113264" y="30358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58368" y="3584448"/>
            <a:ext cx="155448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3232" y="3602736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2212848" y="3584448"/>
            <a:ext cx="1188720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267712" y="3602736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3401568" y="3584448"/>
            <a:ext cx="1353312" cy="566928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456432" y="360273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4754880" y="3584448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09744" y="36027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0/20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6053328" y="3584448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08192" y="360273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7406640" y="3584448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61504" y="36027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8705088" y="3584448"/>
            <a:ext cx="1353312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59952" y="3602736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10058400" y="3584448"/>
            <a:ext cx="1298448" cy="566928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113264" y="360273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749808" y="4709160"/>
            <a:ext cx="3246120" cy="1115568"/>
          </a:xfrm>
          <a:prstGeom prst="roundRect">
            <a:avLst>
              <a:gd name="adj" fmla="val 6557"/>
            </a:avLst>
          </a:prstGeom>
          <a:solidFill>
            <a:srgbClr val="DDF0F1"/>
          </a:solidFill>
          <a:ln w="12700">
            <a:solidFill>
              <a:srgbClr val="DDF0F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86968" y="48006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86" name="Text 84"/>
          <p:cNvSpPr/>
          <p:nvPr/>
        </p:nvSpPr>
        <p:spPr>
          <a:xfrm>
            <a:off x="896112" y="537667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C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P1/P2 cases detected by both NCD and B2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62272" y="4709160"/>
            <a:ext cx="3246120" cy="1115568"/>
          </a:xfrm>
          <a:prstGeom prst="roundRect">
            <a:avLst>
              <a:gd name="adj" fmla="val 6557"/>
            </a:avLst>
          </a:prstGeom>
          <a:solidFill>
            <a:srgbClr val="F7E7E7"/>
          </a:solidFill>
          <a:ln w="12700">
            <a:solidFill>
              <a:srgbClr val="F7E7E7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599432" y="48006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vs 0</a:t>
            </a:r>
            <a:endParaRPr lang="en-US" sz="3400" dirty="0"/>
          </a:p>
        </p:txBody>
      </p:sp>
      <p:sp>
        <p:nvSpPr>
          <p:cNvPr id="89" name="Text 87"/>
          <p:cNvSpPr/>
          <p:nvPr/>
        </p:nvSpPr>
        <p:spPr>
          <a:xfrm>
            <a:off x="4608576" y="537667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positives: NCD versus B2 in UNSW iCaRL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8174736" y="4709160"/>
            <a:ext cx="3246120" cy="1115568"/>
          </a:xfrm>
          <a:prstGeom prst="roundRect">
            <a:avLst>
              <a:gd name="adj" fmla="val 6557"/>
            </a:avLst>
          </a:prstGeom>
          <a:solidFill>
            <a:srgbClr val="F7EDD8"/>
          </a:solidFill>
          <a:ln w="12700">
            <a:solidFill>
              <a:srgbClr val="F7EDD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11896" y="48006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20–34</a:t>
            </a:r>
            <a:endParaRPr lang="en-US" sz="3400" dirty="0"/>
          </a:p>
        </p:txBody>
      </p:sp>
      <p:sp>
        <p:nvSpPr>
          <p:cNvPr id="92" name="Text 90"/>
          <p:cNvSpPr/>
          <p:nvPr/>
        </p:nvSpPr>
        <p:spPr>
          <a:xfrm>
            <a:off x="8321040" y="5376672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B47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controls per cell: too few for population FPR &lt;5%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1490472" y="5989320"/>
            <a:ext cx="9189720" cy="420624"/>
          </a:xfrm>
          <a:prstGeom prst="roundRect">
            <a:avLst>
              <a:gd name="adj" fmla="val 1739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691640" y="60350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benchmark operability is supported; NCD superiority is not.</a:t>
            </a:r>
            <a:endParaRPr lang="en-US" sz="1600" dirty="0"/>
          </a:p>
        </p:txBody>
      </p:sp>
      <p:sp>
        <p:nvSpPr>
          <p:cNvPr id="95" name="Text 93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frozen Exp. 2 five-seed intervention matrix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Exp. 2: same-slice separability is perfect—and non-identifying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continuous scores reach AUROC 1.000 in each frozen dataset–learner cell.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exp2_four_cell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207008"/>
            <a:ext cx="6967728" cy="508406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18704" y="1444752"/>
            <a:ext cx="3566160" cy="4370832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CBD5DE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0" y="175564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curves show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229600" y="230428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Constructed eligible positives are separable from negative controls.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0" y="315468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7C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 not show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0" y="3703320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calibration, deployment discrimination, causal validity, or NCD superiority.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485632" y="4956048"/>
            <a:ext cx="2395728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58784" y="495604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NOVELTY CLAIM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paper_ncd/figures/exp2_four_cell_roc.png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Exp. 3 interim: performance and drift rates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20/140 Phase-I runs: two datasets × Replay/iCaRL × five seeds. Percentages are seed means or pooled eligible-unit rates.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5544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389888"/>
            <a:ext cx="1444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121408" y="1371600"/>
            <a:ext cx="10972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76272" y="1389888"/>
            <a:ext cx="987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18688" y="1371600"/>
            <a:ext cx="114300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73552" y="1389888"/>
            <a:ext cx="10332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61688" y="1371600"/>
            <a:ext cx="114300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389888"/>
            <a:ext cx="10332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BAcc.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23444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59552" y="1389888"/>
            <a:ext cx="1124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39128" y="1371600"/>
            <a:ext cx="109728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93992" y="1389888"/>
            <a:ext cx="987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36408" y="1371600"/>
            <a:ext cx="118872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91272" y="1389888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drift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25128" y="1371600"/>
            <a:ext cx="118872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79992" y="1389888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drift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213848" y="1371600"/>
            <a:ext cx="1280160" cy="530352"/>
          </a:xfrm>
          <a:prstGeom prst="rect">
            <a:avLst/>
          </a:prstGeom>
          <a:solidFill>
            <a:srgbClr val="0B1F33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68712" y="1389888"/>
            <a:ext cx="1170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drift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1901952"/>
            <a:ext cx="15544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19202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121408" y="1901952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76272" y="1920240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18688" y="1901952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73552" y="1920240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79.98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61688" y="1901952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16552" y="1920240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59.96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04688" y="1901952"/>
            <a:ext cx="123444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59552" y="1920240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59.73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39128" y="1901952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93992" y="1920240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836408" y="1901952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91272" y="1920240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62.96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025128" y="1901952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79992" y="1920240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59.26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213848" y="1901952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68712" y="192024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2487168"/>
            <a:ext cx="15544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505456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NSL-KDD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21408" y="2487168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76272" y="2505456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218688" y="2487168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73552" y="2505456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77.54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361688" y="2487168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16552" y="2505456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70.90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504688" y="2487168"/>
            <a:ext cx="123444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59552" y="2505456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62.68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739128" y="2487168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93992" y="2505456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6.57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836408" y="2487168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91272" y="2505456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30.30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9025128" y="2487168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79992" y="2505456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10213848" y="2487168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268712" y="2505456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96.97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3072384"/>
            <a:ext cx="15544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1792" y="3090672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2121408" y="3072384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76272" y="3090672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218688" y="3072384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73552" y="3090672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361688" y="3072384"/>
            <a:ext cx="114300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16552" y="3090672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42.13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504688" y="3072384"/>
            <a:ext cx="123444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59552" y="3090672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34.00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739128" y="3072384"/>
            <a:ext cx="109728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93992" y="3090672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33.44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7836408" y="3072384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91272" y="3090672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31.67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025128" y="3072384"/>
            <a:ext cx="1188720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9992" y="3090672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30.00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10213848" y="3072384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268712" y="3090672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98.33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3657600"/>
            <a:ext cx="15544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1792" y="367588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UNSW-NB15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121408" y="3657600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176272" y="3675888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iCaRL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218688" y="3657600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73552" y="3675888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51.22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4361688" y="3657600"/>
            <a:ext cx="114300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16552" y="3675888"/>
            <a:ext cx="1033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46.06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504688" y="3657600"/>
            <a:ext cx="123444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559552" y="3675888"/>
            <a:ext cx="1124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28.15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6739128" y="3657600"/>
            <a:ext cx="109728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93992" y="3675888"/>
            <a:ext cx="987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35.45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7836408" y="3657600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891272" y="3675888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18.87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9025128" y="3657600"/>
            <a:ext cx="1188720" cy="585216"/>
          </a:xfrm>
          <a:prstGeom prst="rect">
            <a:avLst/>
          </a:prstGeom>
          <a:solidFill>
            <a:srgbClr val="F6F8FA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079992" y="3675888"/>
            <a:ext cx="1078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18.87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0213848" y="3657600"/>
            <a:ext cx="1280160" cy="585216"/>
          </a:xfrm>
          <a:prstGeom prst="rect">
            <a:avLst/>
          </a:prstGeom>
          <a:solidFill>
            <a:srgbClr val="F7E7E7"/>
          </a:solidFill>
          <a:ln w="10160">
            <a:solidFill>
              <a:srgbClr val="CBD5DE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268712" y="3675888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98.11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786384" y="4828032"/>
            <a:ext cx="3182112" cy="1078992"/>
          </a:xfrm>
          <a:prstGeom prst="roundRect">
            <a:avLst>
              <a:gd name="adj" fmla="val 6780"/>
            </a:avLst>
          </a:prstGeom>
          <a:solidFill>
            <a:srgbClr val="E4EFE8"/>
          </a:solidFill>
          <a:ln w="12700">
            <a:solidFill>
              <a:srgbClr val="356B4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" y="5010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56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2.82–35.45%</a:t>
            </a:r>
            <a:endParaRPr lang="en-US" sz="2800" dirty="0"/>
          </a:p>
        </p:txBody>
      </p:sp>
      <p:sp>
        <p:nvSpPr>
          <p:cNvPr id="96" name="Text 94"/>
          <p:cNvSpPr/>
          <p:nvPr/>
        </p:nvSpPr>
        <p:spPr>
          <a:xfrm>
            <a:off x="987552" y="5431536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forgetting across cells</a:t>
            </a:r>
            <a:endParaRPr lang="en-US" sz="1150" dirty="0"/>
          </a:p>
        </p:txBody>
      </p:sp>
      <p:sp>
        <p:nvSpPr>
          <p:cNvPr id="97" name="Shape 95"/>
          <p:cNvSpPr/>
          <p:nvPr/>
        </p:nvSpPr>
        <p:spPr>
          <a:xfrm>
            <a:off x="4498848" y="4828032"/>
            <a:ext cx="3182112" cy="1078992"/>
          </a:xfrm>
          <a:prstGeom prst="roundRect">
            <a:avLst>
              <a:gd name="adj" fmla="val 6780"/>
            </a:avLst>
          </a:prstGeom>
          <a:solidFill>
            <a:srgbClr val="F7E7E7"/>
          </a:solidFill>
          <a:ln w="12700">
            <a:solidFill>
              <a:srgbClr val="9B3B3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63440" y="501091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96.97–100%</a:t>
            </a:r>
            <a:endParaRPr lang="en-US" sz="2800" dirty="0"/>
          </a:p>
        </p:txBody>
      </p:sp>
      <p:sp>
        <p:nvSpPr>
          <p:cNvPr id="99" name="Text 97"/>
          <p:cNvSpPr/>
          <p:nvPr/>
        </p:nvSpPr>
        <p:spPr>
          <a:xfrm>
            <a:off x="4672584" y="543153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drift rate: near saturation</a:t>
            </a:r>
            <a:endParaRPr lang="en-US" sz="1150" dirty="0"/>
          </a:p>
        </p:txBody>
      </p:sp>
      <p:sp>
        <p:nvSpPr>
          <p:cNvPr id="100" name="Shape 98"/>
          <p:cNvSpPr/>
          <p:nvPr/>
        </p:nvSpPr>
        <p:spPr>
          <a:xfrm>
            <a:off x="8211312" y="4828032"/>
            <a:ext cx="3182112" cy="1078992"/>
          </a:xfrm>
          <a:prstGeom prst="roundRect">
            <a:avLst>
              <a:gd name="adj" fmla="val 6780"/>
            </a:avLst>
          </a:prstGeom>
          <a:solidFill>
            <a:srgbClr val="F7EDD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94192" y="501091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140</a:t>
            </a:r>
            <a:endParaRPr lang="en-US" sz="2800" dirty="0"/>
          </a:p>
        </p:txBody>
      </p:sp>
      <p:sp>
        <p:nvSpPr>
          <p:cNvPr id="102" name="Text 100"/>
          <p:cNvSpPr/>
          <p:nvPr/>
        </p:nvSpPr>
        <p:spPr>
          <a:xfrm>
            <a:off x="8385048" y="543153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runs represented</a:t>
            </a:r>
            <a:endParaRPr lang="en-US" sz="1150" dirty="0"/>
          </a:p>
        </p:txBody>
      </p:sp>
      <p:sp>
        <p:nvSpPr>
          <p:cNvPr id="103" name="Text 101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Interim only: excludes CIC-IDS2017, CIC-IDS2018, and five learner families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Final-checkpoint confusion matrices expose class-specific failure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counts pooled over seeds 1, 2, 3, 4, and 42, then row-normalized within each true class.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partial_exp3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88720"/>
            <a:ext cx="7808976" cy="52303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31936" y="1463040"/>
            <a:ext cx="2898648" cy="4315968"/>
          </a:xfrm>
          <a:prstGeom prst="roundRect">
            <a:avLst>
              <a:gd name="adj" fmla="val 2524"/>
            </a:avLst>
          </a:prstGeom>
          <a:solidFill>
            <a:srgbClr val="F6F8FA"/>
          </a:solidFill>
          <a:ln w="12700">
            <a:solidFill>
              <a:srgbClr val="CBD5DE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15400" y="1764792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rule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915400" y="2258568"/>
            <a:ext cx="23225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Diagonal cells are per-class recall. Off-diagonal cells show which attacks collapse into another class or Normal.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915400" y="3429000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915400" y="3922776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accuracy cannot certify class safety. The full result must retain per-class and Normal behaviour.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8961120" y="5120640"/>
            <a:ext cx="2240280" cy="310896"/>
          </a:xfrm>
          <a:prstGeom prst="roundRect">
            <a:avLst>
              <a:gd name="adj" fmla="val 23529"/>
            </a:avLst>
          </a:prstGeom>
          <a:solidFill>
            <a:srgbClr val="B47B1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34272" y="5120640"/>
            <a:ext cx="209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· 20 RUNS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paper_ncd/figures/partial_exp3_confusion_matrices.png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 audit: calibration does not prevent saturation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silent units at the five-point recall tolerance.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partial_exp3_threshold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88720"/>
            <a:ext cx="7644384" cy="2825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298448"/>
            <a:ext cx="2999232" cy="2505456"/>
          </a:xfrm>
          <a:prstGeom prst="roundRect">
            <a:avLst>
              <a:gd name="adj" fmla="val 2920"/>
            </a:avLst>
          </a:prstGeom>
          <a:solidFill>
            <a:srgbClr val="F7E7E7"/>
          </a:solidFill>
          <a:ln w="12700">
            <a:solidFill>
              <a:srgbClr val="9B3B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59952" y="1645920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93.94–100%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796528" y="2267712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drift across q = 0.01–0.10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852928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Flatness here is an undesirable saturation result—not threshold robustness.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6656" y="4480560"/>
            <a:ext cx="3218688" cy="1115568"/>
          </a:xfrm>
          <a:prstGeom prst="roundRect">
            <a:avLst>
              <a:gd name="adj" fmla="val 6557"/>
            </a:avLst>
          </a:prstGeom>
          <a:solidFill>
            <a:srgbClr val="DDF0F1"/>
          </a:solidFill>
          <a:ln w="12700">
            <a:solidFill>
              <a:srgbClr val="DDF0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" y="4572000"/>
            <a:ext cx="294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93.94–100%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22960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0C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all-explainer agreement; invalidated by decision saturation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80560" y="4480560"/>
            <a:ext cx="3218688" cy="1115568"/>
          </a:xfrm>
          <a:prstGeom prst="roundRect">
            <a:avLst>
              <a:gd name="adj" fmla="val 6557"/>
            </a:avLst>
          </a:prstGeom>
          <a:solidFill>
            <a:srgbClr val="F7EDD8"/>
          </a:solidFill>
          <a:ln w="12700">
            <a:solidFill>
              <a:srgbClr val="F7ED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4572000"/>
            <a:ext cx="294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46.99–106.86 s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4626864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B47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permutation time per dataset–method cell over five seeds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84464" y="4480560"/>
            <a:ext cx="3218688" cy="1115568"/>
          </a:xfrm>
          <a:prstGeom prst="roundRect">
            <a:avLst>
              <a:gd name="adj" fmla="val 6557"/>
            </a:avLst>
          </a:prstGeom>
          <a:solidFill>
            <a:srgbClr val="F1E5ED"/>
          </a:solidFill>
          <a:ln w="12700">
            <a:solidFill>
              <a:srgbClr val="F1E5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21624" y="4572000"/>
            <a:ext cx="294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3569–4057×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8430768" y="51480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7C3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fixed-rule decision time, despite only 3.29–3.65% of explanation time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481328" y="5989320"/>
            <a:ext cx="9217152" cy="420624"/>
          </a:xfrm>
          <a:prstGeom prst="roundRect">
            <a:avLst>
              <a:gd name="adj" fmla="val 17391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00784" y="60350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the calibrated rule is currently less selective and more expensive than the matched fixed controls.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q/Jaccard sensitivity and runtime aggregation for the 20-run subset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27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NSL-KDD 25-run drift slice: saturation persists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22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learners × five seeds; matched performance aggregation remains queued.</a:t>
            </a:r>
            <a:endParaRPr lang="en-US" sz="1150" dirty="0"/>
          </a:p>
        </p:txBody>
      </p:sp>
      <p:pic>
        <p:nvPicPr>
          <p:cNvPr id="4" name="Image 0" descr="C:\Users\PC\Documents\Codex\2026-07-10\he-l\work\github_private_current\paper_ncd\figures\nsl_25run_drift_sat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170432"/>
            <a:ext cx="7973568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68512" y="1298448"/>
            <a:ext cx="2779776" cy="4242816"/>
          </a:xfrm>
          <a:prstGeom prst="roundRect">
            <a:avLst>
              <a:gd name="adj" fmla="val 2632"/>
            </a:avLst>
          </a:prstGeom>
          <a:solidFill>
            <a:srgbClr val="F6F8FA"/>
          </a:solidFill>
          <a:ln w="12700">
            <a:solidFill>
              <a:srgbClr val="CBD5DE"/>
            </a:solidFill>
            <a:prstDash val="solid"/>
          </a:ln>
          <a:effectLst>
            <a:outerShdw sx="100000" sy="100000" kx="0" ky="0" algn="bl" rotWithShape="0" blurRad="15240" dist="50800" dir="2700000">
              <a:srgbClr val="7D8B9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42832" y="1664208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9B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 / 157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8979408" y="2258568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units marked by NCD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79408" y="283464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C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91.72%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979408" y="3255264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all-explainer agreement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979408" y="3547872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70.70% · B2 69.43%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979408" y="404164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7B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 / 68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979408" y="4480560"/>
            <a:ext cx="21579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2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future-observed units are positive; no comparison group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851392" y="5120640"/>
            <a:ext cx="2414016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24544" y="512064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VIA SATURATION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371600" y="5852160"/>
            <a:ext cx="9473184" cy="475488"/>
          </a:xfrm>
          <a:prstGeom prst="roundRect">
            <a:avLst>
              <a:gd name="adj" fmla="val 15385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600200" y="5925312"/>
            <a:ext cx="9015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Finding: a completed larger slice confirms saturation; it does not establish prediction, causality, governance, or innovation.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DICC jobs 483664 and 483686; protected 25-run NSL-KDD drift evidence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E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57200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0C7C86"/>
          </a:solidFill>
          <a:ln w="12700">
            <a:solidFill>
              <a:srgbClr val="0C7C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EVIDENCE VERDICT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3232" y="1078992"/>
            <a:ext cx="6720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measurement works.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innovation claim does not—yet.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49808" y="2670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356B4D"/>
          </a:solidFill>
          <a:ln w="12700">
            <a:solidFill>
              <a:srgbClr val="356B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70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21408" y="2642616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explanations and intervention constructions are auditable.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9808" y="361188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7C3F68"/>
          </a:solidFill>
          <a:ln w="12700">
            <a:solidFill>
              <a:srgbClr val="7C3F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611880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21408" y="3584448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NCD ties B2 on eligible positives, adds one false positive, and marks 154/157 silent units in the completed NSL drift slice.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9808" y="45537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B47B18"/>
          </a:solidFill>
          <a:ln w="12700">
            <a:solidFill>
              <a:srgbClr val="B47B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55371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21408" y="45262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NSL performance, the other three datasets, cross-explainer validity, future-recall relation, and RQ3 governance.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12480" y="1078992"/>
            <a:ext cx="2926080" cy="4535424"/>
          </a:xfrm>
          <a:prstGeom prst="roundRect">
            <a:avLst>
              <a:gd name="adj" fmla="val 2500"/>
            </a:avLst>
          </a:prstGeom>
          <a:solidFill>
            <a:srgbClr val="132D45"/>
          </a:solidFill>
          <a:ln w="12700">
            <a:solidFill>
              <a:srgbClr val="2644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05088" y="14173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HPC completion path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723376" y="2029968"/>
            <a:ext cx="2286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registered owned jobs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complete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queued or dependency-held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primary runs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performance aggregations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drift aggregations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7E2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submission.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" y="5852160"/>
            <a:ext cx="10405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current result establishes substantive innovation, cross-domain generality, or validated governance.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" y="656539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audit matched NSL performance and each remaining terminal protected result before replacing interim tables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109960" y="65471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5D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Universiti Malaya research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NCD Evidence Update — Architecture and Results</dc:title>
  <dc:subject>Noise-calibrated silent explanation drift evidence update</dc:subject>
  <dc:creator>OFRA research project</dc:creator>
  <cp:lastModifiedBy>OFRA research project</cp:lastModifiedBy>
  <cp:revision>1</cp:revision>
  <dcterms:created xsi:type="dcterms:W3CDTF">2026-10-10T13:41:04Z</dcterms:created>
  <dcterms:modified xsi:type="dcterms:W3CDTF">2026-10-10T13:41:04Z</dcterms:modified>
</cp:coreProperties>
</file>