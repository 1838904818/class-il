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02920"/>
            <a:ext cx="2560320" cy="310896"/>
          </a:xfrm>
          <a:prstGeom prst="roundRect">
            <a:avLst>
              <a:gd name="adj" fmla="val 23529"/>
            </a:avLst>
          </a:prstGeom>
          <a:solidFill>
            <a:srgbClr val="0C7C86"/>
          </a:solidFill>
          <a:ln w="12700">
            <a:solidFill>
              <a:srgbClr val="0C7C8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02920"/>
            <a:ext cx="2414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INTERIM EVIDENCE · 10 OCT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1115568"/>
            <a:ext cx="6492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Noise-Calibrated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Silent Explanation Drift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13232" y="2688336"/>
            <a:ext cx="6720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Architecture, intervention benchmark, and partial real-data evidence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54112" y="1024128"/>
            <a:ext cx="3611880" cy="4389120"/>
          </a:xfrm>
          <a:prstGeom prst="roundRect">
            <a:avLst>
              <a:gd name="adj" fmla="val 2025"/>
            </a:avLst>
          </a:prstGeom>
          <a:solidFill>
            <a:srgbClr val="132D45"/>
          </a:solidFill>
          <a:ln w="12700">
            <a:solidFill>
              <a:srgbClr val="26445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65008" y="1572768"/>
            <a:ext cx="2999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/ 140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8119872" y="2487168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Exp. 3 Phase-I runs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currently in the local interim slice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56448" y="3374136"/>
            <a:ext cx="2807208" cy="310896"/>
          </a:xfrm>
          <a:prstGeom prst="roundRect">
            <a:avLst>
              <a:gd name="adj" fmla="val 23529"/>
            </a:avLst>
          </a:prstGeom>
          <a:solidFill>
            <a:srgbClr val="7C3F68"/>
          </a:solidFill>
          <a:ln w="12700">
            <a:solidFill>
              <a:srgbClr val="7C3F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0" y="3374136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 FINAL FOUR-DATASET RESULT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165592" y="3977640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6D5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verdict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83296" y="435254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Operable measurement; saturated decision; no established innovation.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3232" y="5879592"/>
            <a:ext cx="10469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Locked target: prediction · forgetting · silent explanation drift · non-suppressive governance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6565392"/>
            <a:ext cx="10287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D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scope: frozen Exp. 2 + interim Exp. 3 subset; full HPC comparison pending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1109960" y="65471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5D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27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architecture: questions before mechanisms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research object is not NCD, OFRA, BARE, SHAP, or a learner swap.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58368" y="1234440"/>
            <a:ext cx="10863072" cy="950976"/>
          </a:xfrm>
          <a:prstGeom prst="roundRect">
            <a:avLst>
              <a:gd name="adj" fmla="val 7692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141732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a task-free class-incremental NIDS preserve useful predictions while its explanation basis changes silently?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58368" y="2578608"/>
            <a:ext cx="3154680" cy="2578608"/>
          </a:xfrm>
          <a:prstGeom prst="roundRect">
            <a:avLst>
              <a:gd name="adj" fmla="val 2837"/>
            </a:avLst>
          </a:prstGeom>
          <a:solidFill>
            <a:srgbClr val="DDF0F1"/>
          </a:solidFill>
          <a:ln w="12700">
            <a:solidFill>
              <a:srgbClr val="0C7C86"/>
            </a:solidFill>
            <a:prstDash val="solid"/>
          </a:ln>
          <a:effectLst>
            <a:outerShdw sx="100000" sy="100000" kx="0" ky="0" algn="bl" rotWithShape="0" blurRad="15240" dist="50800" dir="2700000">
              <a:srgbClr val="7D8B98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16352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0C7C86"/>
          </a:solidFill>
          <a:ln w="12700">
            <a:solidFill>
              <a:srgbClr val="0C7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2816352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RQ1 · MANDATORY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33192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 silent drift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3886200"/>
            <a:ext cx="26334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Frequency, magnitude, agreement, and threshold sensitivity across checkpoints.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087368" y="2578608"/>
            <a:ext cx="3154680" cy="2578608"/>
          </a:xfrm>
          <a:prstGeom prst="roundRect">
            <a:avLst>
              <a:gd name="adj" fmla="val 2837"/>
            </a:avLst>
          </a:prstGeom>
          <a:solidFill>
            <a:srgbClr val="E4EFE8"/>
          </a:solidFill>
          <a:ln w="12700">
            <a:solidFill>
              <a:srgbClr val="356B4D"/>
            </a:solidFill>
            <a:prstDash val="solid"/>
          </a:ln>
          <a:effectLst>
            <a:outerShdw sx="100000" sy="100000" kx="0" ky="0" algn="bl" rotWithShape="0" blurRad="15240" dist="50800" dir="2700000">
              <a:srgbClr val="7D8B98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43400" y="2816352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356B4D"/>
          </a:solidFill>
          <a:ln w="12700">
            <a:solidFill>
              <a:srgbClr val="356B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6552" y="2816352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RQ2 · MATCHED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343400" y="33192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Quantify trade-offs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343400" y="3886200"/>
            <a:ext cx="26334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Accuracy, class safety, forgetting, memory, runtime, and explanation cost.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516368" y="2578608"/>
            <a:ext cx="3154680" cy="2578608"/>
          </a:xfrm>
          <a:prstGeom prst="roundRect">
            <a:avLst>
              <a:gd name="adj" fmla="val 2837"/>
            </a:avLst>
          </a:prstGeom>
          <a:solidFill>
            <a:srgbClr val="F7E7E7"/>
          </a:solidFill>
          <a:ln w="12700">
            <a:solidFill>
              <a:srgbClr val="9B3B3B"/>
            </a:solidFill>
            <a:prstDash val="solid"/>
          </a:ln>
          <a:effectLst>
            <a:outerShdw sx="100000" sy="100000" kx="0" ky="0" algn="bl" rotWithShape="0" blurRad="15240" dist="50800" dir="2700000">
              <a:srgbClr val="7D8B98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772400" y="2816352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9B3B3B"/>
          </a:solidFill>
          <a:ln w="12700">
            <a:solidFill>
              <a:srgbClr val="9B3B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45552" y="2816352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RQ3 · OPEN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0" y="33192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governance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7772400" y="3886200"/>
            <a:ext cx="26334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Non-suppressive evidence logging with binary decision invariance. Not yet validated.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508760" y="5532120"/>
            <a:ext cx="9162288" cy="621792"/>
          </a:xfrm>
          <a:prstGeom prst="roundRect">
            <a:avLst>
              <a:gd name="adj" fmla="val 11765"/>
            </a:avLst>
          </a:prstGeom>
          <a:solidFill>
            <a:srgbClr val="F7EDD8"/>
          </a:solidFill>
          <a:ln w="12700">
            <a:solidFill>
              <a:srgbClr val="B47B1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83080" y="5650992"/>
            <a:ext cx="8613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NCD is a candidate measurement mechanism. A detector gain, threshold, wrapper, or model swap alone cannot satisfy the substantive-innovation gate.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94360" y="6565392"/>
            <a:ext cx="10287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RESEARCH_TARGET_LOCK.md and paper_ncd/paper.tex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109960" y="65471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\Documents\Codex\2026-07-10\he-l\work\github_private_current\paper_ncd\figures\ncd_method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1016" y="329184"/>
            <a:ext cx="9637776" cy="62727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6565392"/>
            <a:ext cx="10287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Frozen observations → repeated explanations → permutation/FDR → 2-of-3 consensus → non-suppressive audit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1109960" y="65471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27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Exp. 2: intervention-grounded detector counts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seeds per cell; B2 is the repeat-mean Jaccard control.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58368" y="1353312"/>
            <a:ext cx="155448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371600"/>
            <a:ext cx="14447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12848" y="1353312"/>
            <a:ext cx="118872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67712" y="1371600"/>
            <a:ext cx="1078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01568" y="1353312"/>
            <a:ext cx="1353312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56432" y="1371600"/>
            <a:ext cx="12435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NCD FP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1353312"/>
            <a:ext cx="1298448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9744" y="1371600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 FP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53328" y="1353312"/>
            <a:ext cx="1353312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08192" y="1371600"/>
            <a:ext cx="12435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NCD P1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1353312"/>
            <a:ext cx="1298448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61504" y="1371600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 P1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05088" y="1353312"/>
            <a:ext cx="1353312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59952" y="1371600"/>
            <a:ext cx="12435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NCD P2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58400" y="1353312"/>
            <a:ext cx="1298448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113264" y="1371600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 P2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8368" y="1883664"/>
            <a:ext cx="1554480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1901952"/>
            <a:ext cx="1444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NSL-KDD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212848" y="1883664"/>
            <a:ext cx="1188720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67712" y="1901952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401568" y="1883664"/>
            <a:ext cx="1353312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56432" y="1901952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0/34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54880" y="1883664"/>
            <a:ext cx="1298448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9744" y="190195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0/34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53328" y="1883664"/>
            <a:ext cx="1353312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08192" y="1901952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8/8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406640" y="1883664"/>
            <a:ext cx="1298448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61504" y="190195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8/8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705088" y="1883664"/>
            <a:ext cx="1353312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759952" y="1901952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0058400" y="1883664"/>
            <a:ext cx="1298448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113264" y="190195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58368" y="2450592"/>
            <a:ext cx="1554480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2468880"/>
            <a:ext cx="1444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UNSW-NB15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212848" y="2450592"/>
            <a:ext cx="1188720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67712" y="2468880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401568" y="2450592"/>
            <a:ext cx="1353312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56432" y="2468880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0/30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754880" y="2450592"/>
            <a:ext cx="1298448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09744" y="246888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0/30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053328" y="2450592"/>
            <a:ext cx="1353312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08192" y="2468880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406640" y="2450592"/>
            <a:ext cx="1298448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61504" y="246888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8705088" y="2450592"/>
            <a:ext cx="1353312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759952" y="2468880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4/4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10058400" y="2450592"/>
            <a:ext cx="1298448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113264" y="246888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4/4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58368" y="3017520"/>
            <a:ext cx="1554480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3232" y="3035808"/>
            <a:ext cx="1444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NSL-KDD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212848" y="3017520"/>
            <a:ext cx="1188720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67712" y="3035808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iCaRL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401568" y="3017520"/>
            <a:ext cx="1353312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456432" y="3035808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0/20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4754880" y="3017520"/>
            <a:ext cx="1298448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09744" y="303580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0/20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6053328" y="3017520"/>
            <a:ext cx="1353312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8192" y="3035808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9/9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7406640" y="3017520"/>
            <a:ext cx="1298448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461504" y="303580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9/9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8705088" y="3017520"/>
            <a:ext cx="1353312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759952" y="3035808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10058400" y="3017520"/>
            <a:ext cx="1298448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0113264" y="303580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658368" y="3584448"/>
            <a:ext cx="1554480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13232" y="3602736"/>
            <a:ext cx="1444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UNSW-NB15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2212848" y="3584448"/>
            <a:ext cx="1188720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267712" y="3602736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iCaRL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3401568" y="3584448"/>
            <a:ext cx="1353312" cy="566928"/>
          </a:xfrm>
          <a:prstGeom prst="rect">
            <a:avLst/>
          </a:prstGeom>
          <a:solidFill>
            <a:srgbClr val="F7E7E7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456432" y="3602736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B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1/20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4754880" y="3584448"/>
            <a:ext cx="1298448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809744" y="360273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0/20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6053328" y="3584448"/>
            <a:ext cx="1353312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108192" y="3602736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4/4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7406640" y="3584448"/>
            <a:ext cx="1298448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461504" y="360273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4/4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8705088" y="3584448"/>
            <a:ext cx="1353312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759952" y="3602736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10058400" y="3584448"/>
            <a:ext cx="1298448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0113264" y="360273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749808" y="4709160"/>
            <a:ext cx="3246120" cy="1115568"/>
          </a:xfrm>
          <a:prstGeom prst="roundRect">
            <a:avLst>
              <a:gd name="adj" fmla="val 6557"/>
            </a:avLst>
          </a:prstGeom>
          <a:solidFill>
            <a:srgbClr val="DDF0F1"/>
          </a:solidFill>
          <a:ln w="12700">
            <a:solidFill>
              <a:srgbClr val="DDF0F1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86968" y="48006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C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86" name="Text 84"/>
          <p:cNvSpPr/>
          <p:nvPr/>
        </p:nvSpPr>
        <p:spPr>
          <a:xfrm>
            <a:off x="896112" y="5376672"/>
            <a:ext cx="2953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C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eligible P1/P2 cases detected by both NCD and B2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462272" y="4709160"/>
            <a:ext cx="3246120" cy="1115568"/>
          </a:xfrm>
          <a:prstGeom prst="roundRect">
            <a:avLst>
              <a:gd name="adj" fmla="val 6557"/>
            </a:avLst>
          </a:prstGeom>
          <a:solidFill>
            <a:srgbClr val="F7E7E7"/>
          </a:solidFill>
          <a:ln w="12700">
            <a:solidFill>
              <a:srgbClr val="F7E7E7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599432" y="48006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B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vs 0</a:t>
            </a:r>
            <a:endParaRPr lang="en-US" sz="3400" dirty="0"/>
          </a:p>
        </p:txBody>
      </p:sp>
      <p:sp>
        <p:nvSpPr>
          <p:cNvPr id="89" name="Text 87"/>
          <p:cNvSpPr/>
          <p:nvPr/>
        </p:nvSpPr>
        <p:spPr>
          <a:xfrm>
            <a:off x="4608576" y="5376672"/>
            <a:ext cx="2953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9B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positives: NCD versus B2 in UNSW iCaRL</a:t>
            </a:r>
            <a:endParaRPr lang="en-US" sz="1150" dirty="0"/>
          </a:p>
        </p:txBody>
      </p:sp>
      <p:sp>
        <p:nvSpPr>
          <p:cNvPr id="90" name="Shape 88"/>
          <p:cNvSpPr/>
          <p:nvPr/>
        </p:nvSpPr>
        <p:spPr>
          <a:xfrm>
            <a:off x="8174736" y="4709160"/>
            <a:ext cx="3246120" cy="1115568"/>
          </a:xfrm>
          <a:prstGeom prst="roundRect">
            <a:avLst>
              <a:gd name="adj" fmla="val 6557"/>
            </a:avLst>
          </a:prstGeom>
          <a:solidFill>
            <a:srgbClr val="F7EDD8"/>
          </a:solidFill>
          <a:ln w="12700">
            <a:solidFill>
              <a:srgbClr val="F7EDD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311896" y="48006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47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20–34</a:t>
            </a:r>
            <a:endParaRPr lang="en-US" sz="3400" dirty="0"/>
          </a:p>
        </p:txBody>
      </p:sp>
      <p:sp>
        <p:nvSpPr>
          <p:cNvPr id="92" name="Text 90"/>
          <p:cNvSpPr/>
          <p:nvPr/>
        </p:nvSpPr>
        <p:spPr>
          <a:xfrm>
            <a:off x="8321040" y="5376672"/>
            <a:ext cx="2953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B47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controls per cell: too few for population FPR &lt;5%</a:t>
            </a:r>
            <a:endParaRPr lang="en-US" sz="1150" dirty="0"/>
          </a:p>
        </p:txBody>
      </p:sp>
      <p:sp>
        <p:nvSpPr>
          <p:cNvPr id="93" name="Shape 91"/>
          <p:cNvSpPr/>
          <p:nvPr/>
        </p:nvSpPr>
        <p:spPr>
          <a:xfrm>
            <a:off x="1490472" y="5989320"/>
            <a:ext cx="9189720" cy="420624"/>
          </a:xfrm>
          <a:prstGeom prst="roundRect">
            <a:avLst>
              <a:gd name="adj" fmla="val 17391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691640" y="603504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Decision: benchmark operability is supported; NCD superiority is not.</a:t>
            </a:r>
            <a:endParaRPr lang="en-US" sz="1600" dirty="0"/>
          </a:p>
        </p:txBody>
      </p:sp>
      <p:sp>
        <p:nvSpPr>
          <p:cNvPr id="95" name="Text 93"/>
          <p:cNvSpPr/>
          <p:nvPr/>
        </p:nvSpPr>
        <p:spPr>
          <a:xfrm>
            <a:off x="594360" y="6565392"/>
            <a:ext cx="10287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frozen Exp. 2 five-seed intervention matrix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11109960" y="65471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27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Exp. 2: same-slice separability is perfect—and non-identifying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six continuous scores reach AUROC 1.000 in each frozen dataset–learner cell.</a:t>
            </a:r>
            <a:endParaRPr lang="en-US" sz="1150" dirty="0"/>
          </a:p>
        </p:txBody>
      </p:sp>
      <p:pic>
        <p:nvPicPr>
          <p:cNvPr id="4" name="Image 0" descr="C:\Users\PC\Documents\Codex\2026-07-10\he-l\work\github_private_current\paper_ncd\figures\exp2_four_cell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207008"/>
            <a:ext cx="6967728" cy="508406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18704" y="1444752"/>
            <a:ext cx="3566160" cy="4370832"/>
          </a:xfrm>
          <a:prstGeom prst="roundRect">
            <a:avLst>
              <a:gd name="adj" fmla="val 2051"/>
            </a:avLst>
          </a:prstGeom>
          <a:solidFill>
            <a:srgbClr val="F6F8FA"/>
          </a:solidFill>
          <a:ln w="12700">
            <a:solidFill>
              <a:srgbClr val="CBD5DE"/>
            </a:solidFill>
            <a:prstDash val="solid"/>
          </a:ln>
          <a:effectLst>
            <a:outerShdw sx="100000" sy="100000" kx="0" ky="0" algn="bl" rotWithShape="0" blurRad="15240" dist="50800" dir="2700000">
              <a:srgbClr val="7D8B9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0" y="1755648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curves show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229600" y="2304288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Constructed eligible positives are separable from negative controls.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0" y="3154680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7C3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they do not show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229600" y="3703320"/>
            <a:ext cx="2926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calibration, deployment discrimination, causal validity, or NCD superiority.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485632" y="4956048"/>
            <a:ext cx="2395728" cy="310896"/>
          </a:xfrm>
          <a:prstGeom prst="roundRect">
            <a:avLst>
              <a:gd name="adj" fmla="val 23529"/>
            </a:avLst>
          </a:prstGeom>
          <a:solidFill>
            <a:srgbClr val="7C3F68"/>
          </a:solidFill>
          <a:ln w="12700">
            <a:solidFill>
              <a:srgbClr val="7C3F6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58784" y="4956048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NOVELTY CLAIM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94360" y="6565392"/>
            <a:ext cx="10287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paper_ncd/figures/exp2_four_cell_roc.png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1109960" y="65471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27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Exp. 3 interim: performance and drift rates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20/140 Phase-I runs: two datasets × Replay/iCaRL × five seeds. Percentages are seed means or pooled eligible-unit rates.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55448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389888"/>
            <a:ext cx="14447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121408" y="1371600"/>
            <a:ext cx="109728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76272" y="1389888"/>
            <a:ext cx="987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18688" y="1371600"/>
            <a:ext cx="114300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73552" y="1389888"/>
            <a:ext cx="10332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61688" y="1371600"/>
            <a:ext cx="114300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389888"/>
            <a:ext cx="10332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BAcc.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504688" y="1371600"/>
            <a:ext cx="123444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59552" y="1389888"/>
            <a:ext cx="11247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F1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39128" y="1371600"/>
            <a:ext cx="109728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93992" y="1389888"/>
            <a:ext cx="987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36408" y="1371600"/>
            <a:ext cx="118872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91272" y="1389888"/>
            <a:ext cx="1078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 drift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025128" y="1371600"/>
            <a:ext cx="118872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79992" y="1389888"/>
            <a:ext cx="1078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 drift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213848" y="1371600"/>
            <a:ext cx="128016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68712" y="1389888"/>
            <a:ext cx="11704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NCD drift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1901952"/>
            <a:ext cx="155448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192024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NSL-KDD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121408" y="1901952"/>
            <a:ext cx="109728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76272" y="1920240"/>
            <a:ext cx="987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18688" y="1901952"/>
            <a:ext cx="114300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73552" y="1920240"/>
            <a:ext cx="1033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79.98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361688" y="1901952"/>
            <a:ext cx="114300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16552" y="1920240"/>
            <a:ext cx="1033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59.96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504688" y="1901952"/>
            <a:ext cx="123444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59552" y="1920240"/>
            <a:ext cx="1124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59.73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739128" y="1901952"/>
            <a:ext cx="109728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93992" y="1920240"/>
            <a:ext cx="987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2.82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836408" y="1901952"/>
            <a:ext cx="118872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91272" y="1920240"/>
            <a:ext cx="1078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62.96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025128" y="1901952"/>
            <a:ext cx="118872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079992" y="1920240"/>
            <a:ext cx="1078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59.26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0213848" y="1901952"/>
            <a:ext cx="1280160" cy="585216"/>
          </a:xfrm>
          <a:prstGeom prst="rect">
            <a:avLst/>
          </a:prstGeom>
          <a:solidFill>
            <a:srgbClr val="F7E7E7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68712" y="1920240"/>
            <a:ext cx="1170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B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2487168"/>
            <a:ext cx="155448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" y="2505456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NSL-KDD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121408" y="2487168"/>
            <a:ext cx="109728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76272" y="2505456"/>
            <a:ext cx="987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iCaRL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3218688" y="2487168"/>
            <a:ext cx="114300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73552" y="2505456"/>
            <a:ext cx="1033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77.54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361688" y="2487168"/>
            <a:ext cx="114300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16552" y="2505456"/>
            <a:ext cx="1033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70.90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504688" y="2487168"/>
            <a:ext cx="123444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59552" y="2505456"/>
            <a:ext cx="1124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62.68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739128" y="2487168"/>
            <a:ext cx="109728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93992" y="2505456"/>
            <a:ext cx="987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6.57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7836408" y="2487168"/>
            <a:ext cx="118872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891272" y="2505456"/>
            <a:ext cx="1078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30.30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9025128" y="2487168"/>
            <a:ext cx="118872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079992" y="2505456"/>
            <a:ext cx="1078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30.30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10213848" y="2487168"/>
            <a:ext cx="1280160" cy="585216"/>
          </a:xfrm>
          <a:prstGeom prst="rect">
            <a:avLst/>
          </a:prstGeom>
          <a:solidFill>
            <a:srgbClr val="F7E7E7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268712" y="2505456"/>
            <a:ext cx="1170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B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96.97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3072384"/>
            <a:ext cx="155448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21792" y="3090672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UNSW-NB15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2121408" y="3072384"/>
            <a:ext cx="109728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176272" y="3090672"/>
            <a:ext cx="987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3218688" y="3072384"/>
            <a:ext cx="114300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273552" y="3090672"/>
            <a:ext cx="1033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63.30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361688" y="3072384"/>
            <a:ext cx="114300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416552" y="3090672"/>
            <a:ext cx="1033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42.13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504688" y="3072384"/>
            <a:ext cx="123444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559552" y="3090672"/>
            <a:ext cx="1124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34.00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6739128" y="3072384"/>
            <a:ext cx="109728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93992" y="3090672"/>
            <a:ext cx="987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33.44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7836408" y="3072384"/>
            <a:ext cx="118872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891272" y="3090672"/>
            <a:ext cx="1078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31.67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9025128" y="3072384"/>
            <a:ext cx="118872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079992" y="3090672"/>
            <a:ext cx="1078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30.00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10213848" y="3072384"/>
            <a:ext cx="1280160" cy="585216"/>
          </a:xfrm>
          <a:prstGeom prst="rect">
            <a:avLst/>
          </a:prstGeom>
          <a:solidFill>
            <a:srgbClr val="F7E7E7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268712" y="3090672"/>
            <a:ext cx="1170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B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98.33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66928" y="3657600"/>
            <a:ext cx="155448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21792" y="3675888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UNSW-NB15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2121408" y="3657600"/>
            <a:ext cx="109728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176272" y="3675888"/>
            <a:ext cx="987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iCaRL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3218688" y="3657600"/>
            <a:ext cx="114300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273552" y="3675888"/>
            <a:ext cx="1033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51.22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4361688" y="3657600"/>
            <a:ext cx="114300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416552" y="3675888"/>
            <a:ext cx="1033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46.06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5504688" y="3657600"/>
            <a:ext cx="123444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559552" y="3675888"/>
            <a:ext cx="1124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28.15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6739128" y="3657600"/>
            <a:ext cx="109728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793992" y="3675888"/>
            <a:ext cx="987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35.45</a:t>
            </a:r>
            <a:endParaRPr lang="en-US" sz="1050" dirty="0"/>
          </a:p>
        </p:txBody>
      </p:sp>
      <p:sp>
        <p:nvSpPr>
          <p:cNvPr id="88" name="Shape 86"/>
          <p:cNvSpPr/>
          <p:nvPr/>
        </p:nvSpPr>
        <p:spPr>
          <a:xfrm>
            <a:off x="7836408" y="3657600"/>
            <a:ext cx="118872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891272" y="3675888"/>
            <a:ext cx="1078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18.87</a:t>
            </a:r>
            <a:endParaRPr lang="en-US" sz="1050" dirty="0"/>
          </a:p>
        </p:txBody>
      </p:sp>
      <p:sp>
        <p:nvSpPr>
          <p:cNvPr id="90" name="Shape 88"/>
          <p:cNvSpPr/>
          <p:nvPr/>
        </p:nvSpPr>
        <p:spPr>
          <a:xfrm>
            <a:off x="9025128" y="3657600"/>
            <a:ext cx="118872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079992" y="3675888"/>
            <a:ext cx="1078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18.87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10213848" y="3657600"/>
            <a:ext cx="1280160" cy="585216"/>
          </a:xfrm>
          <a:prstGeom prst="rect">
            <a:avLst/>
          </a:prstGeom>
          <a:solidFill>
            <a:srgbClr val="F7E7E7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268712" y="3675888"/>
            <a:ext cx="1170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B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98.11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786384" y="4828032"/>
            <a:ext cx="3182112" cy="1078992"/>
          </a:xfrm>
          <a:prstGeom prst="roundRect">
            <a:avLst>
              <a:gd name="adj" fmla="val 6780"/>
            </a:avLst>
          </a:prstGeom>
          <a:solidFill>
            <a:srgbClr val="E4EFE8"/>
          </a:solidFill>
          <a:ln w="12700">
            <a:solidFill>
              <a:srgbClr val="356B4D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60120" y="50109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56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2.82–35.45%</a:t>
            </a:r>
            <a:endParaRPr lang="en-US" sz="2800" dirty="0"/>
          </a:p>
        </p:txBody>
      </p:sp>
      <p:sp>
        <p:nvSpPr>
          <p:cNvPr id="96" name="Text 94"/>
          <p:cNvSpPr/>
          <p:nvPr/>
        </p:nvSpPr>
        <p:spPr>
          <a:xfrm>
            <a:off x="987552" y="5431536"/>
            <a:ext cx="2779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forgetting across cells</a:t>
            </a:r>
            <a:endParaRPr lang="en-US" sz="1150" dirty="0"/>
          </a:p>
        </p:txBody>
      </p:sp>
      <p:sp>
        <p:nvSpPr>
          <p:cNvPr id="97" name="Shape 95"/>
          <p:cNvSpPr/>
          <p:nvPr/>
        </p:nvSpPr>
        <p:spPr>
          <a:xfrm>
            <a:off x="4498848" y="4828032"/>
            <a:ext cx="3182112" cy="1078992"/>
          </a:xfrm>
          <a:prstGeom prst="roundRect">
            <a:avLst>
              <a:gd name="adj" fmla="val 6780"/>
            </a:avLst>
          </a:prstGeom>
          <a:solidFill>
            <a:srgbClr val="F7E7E7"/>
          </a:solidFill>
          <a:ln w="12700">
            <a:solidFill>
              <a:srgbClr val="9B3B3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663440" y="501091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B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96.97–100%</a:t>
            </a:r>
            <a:endParaRPr lang="en-US" sz="2800" dirty="0"/>
          </a:p>
        </p:txBody>
      </p:sp>
      <p:sp>
        <p:nvSpPr>
          <p:cNvPr id="99" name="Text 97"/>
          <p:cNvSpPr/>
          <p:nvPr/>
        </p:nvSpPr>
        <p:spPr>
          <a:xfrm>
            <a:off x="4672584" y="543153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NCD drift rate: near saturation</a:t>
            </a:r>
            <a:endParaRPr lang="en-US" sz="1150" dirty="0"/>
          </a:p>
        </p:txBody>
      </p:sp>
      <p:sp>
        <p:nvSpPr>
          <p:cNvPr id="100" name="Shape 98"/>
          <p:cNvSpPr/>
          <p:nvPr/>
        </p:nvSpPr>
        <p:spPr>
          <a:xfrm>
            <a:off x="8211312" y="4828032"/>
            <a:ext cx="3182112" cy="1078992"/>
          </a:xfrm>
          <a:prstGeom prst="roundRect">
            <a:avLst>
              <a:gd name="adj" fmla="val 6780"/>
            </a:avLst>
          </a:prstGeom>
          <a:solidFill>
            <a:srgbClr val="F7EDD8"/>
          </a:solidFill>
          <a:ln w="12700">
            <a:solidFill>
              <a:srgbClr val="B47B18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394192" y="5010912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47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/ 140</a:t>
            </a:r>
            <a:endParaRPr lang="en-US" sz="2800" dirty="0"/>
          </a:p>
        </p:txBody>
      </p:sp>
      <p:sp>
        <p:nvSpPr>
          <p:cNvPr id="102" name="Text 100"/>
          <p:cNvSpPr/>
          <p:nvPr/>
        </p:nvSpPr>
        <p:spPr>
          <a:xfrm>
            <a:off x="8385048" y="543153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runs represented</a:t>
            </a:r>
            <a:endParaRPr lang="en-US" sz="1150" dirty="0"/>
          </a:p>
        </p:txBody>
      </p:sp>
      <p:sp>
        <p:nvSpPr>
          <p:cNvPr id="103" name="Text 101"/>
          <p:cNvSpPr/>
          <p:nvPr/>
        </p:nvSpPr>
        <p:spPr>
          <a:xfrm>
            <a:off x="594360" y="6565392"/>
            <a:ext cx="10287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Interim only: excludes CIC-IDS2017, CIC-IDS2018, and five learner families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11109960" y="65471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27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Final-checkpoint confusion matrices expose class-specific failure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counts pooled over seeds 1, 2, 3, 4, and 42, then row-normalized within each true class.</a:t>
            </a:r>
            <a:endParaRPr lang="en-US" sz="1150" dirty="0"/>
          </a:p>
        </p:txBody>
      </p:sp>
      <p:pic>
        <p:nvPicPr>
          <p:cNvPr id="4" name="Image 0" descr="C:\Users\PC\Documents\Codex\2026-07-10\he-l\work\github_private_current\paper_ncd\figures\partial_exp3_confusion_matri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188720"/>
            <a:ext cx="7808976" cy="52303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631936" y="1463040"/>
            <a:ext cx="2898648" cy="4315968"/>
          </a:xfrm>
          <a:prstGeom prst="roundRect">
            <a:avLst>
              <a:gd name="adj" fmla="val 2524"/>
            </a:avLst>
          </a:prstGeom>
          <a:solidFill>
            <a:srgbClr val="F6F8FA"/>
          </a:solidFill>
          <a:ln w="12700">
            <a:solidFill>
              <a:srgbClr val="CBD5DE"/>
            </a:solidFill>
            <a:prstDash val="solid"/>
          </a:ln>
          <a:effectLst>
            <a:outerShdw sx="100000" sy="100000" kx="0" ky="0" algn="bl" rotWithShape="0" blurRad="15240" dist="50800" dir="2700000">
              <a:srgbClr val="7D8B9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915400" y="1764792"/>
            <a:ext cx="2322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rule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915400" y="2258568"/>
            <a:ext cx="232257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Diagonal cells are per-class recall. Off-diagonal cells show which attacks collapse into another class or Normal.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915400" y="3429000"/>
            <a:ext cx="2322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C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915400" y="3922776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Headline accuracy cannot certify class safety. The full result must retain per-class and Normal behaviour.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8961120" y="5120640"/>
            <a:ext cx="2240280" cy="310896"/>
          </a:xfrm>
          <a:prstGeom prst="roundRect">
            <a:avLst>
              <a:gd name="adj" fmla="val 23529"/>
            </a:avLst>
          </a:prstGeom>
          <a:solidFill>
            <a:srgbClr val="B47B18"/>
          </a:solidFill>
          <a:ln w="12700">
            <a:solidFill>
              <a:srgbClr val="B47B1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34272" y="5120640"/>
            <a:ext cx="2093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DESCRIPTIVE · 20 RUNS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94360" y="6565392"/>
            <a:ext cx="10287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paper_ncd/figures/partial_exp3_confusion_matrices.png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1109960" y="65471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27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Threshold audit: calibration does not prevent saturation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silent units at the five-point recall tolerance.</a:t>
            </a:r>
            <a:endParaRPr lang="en-US" sz="1150" dirty="0"/>
          </a:p>
        </p:txBody>
      </p:sp>
      <p:pic>
        <p:nvPicPr>
          <p:cNvPr id="4" name="Image 0" descr="C:\Users\PC\Documents\Codex\2026-07-10\he-l\work\github_private_current\paper_ncd\figures\partial_exp3_threshold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88720"/>
            <a:ext cx="7644384" cy="28254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503920" y="1298448"/>
            <a:ext cx="2999232" cy="2505456"/>
          </a:xfrm>
          <a:prstGeom prst="roundRect">
            <a:avLst>
              <a:gd name="adj" fmla="val 2920"/>
            </a:avLst>
          </a:prstGeom>
          <a:solidFill>
            <a:srgbClr val="F7E7E7"/>
          </a:solidFill>
          <a:ln w="12700">
            <a:solidFill>
              <a:srgbClr val="9B3B3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759952" y="1645920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B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93.94–100%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796528" y="2267712"/>
            <a:ext cx="2414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NCD drift across q = 0.01–0.10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778240" y="2852928"/>
            <a:ext cx="24505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Flatness here is an undesirable saturation result—not threshold robustness.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76656" y="4480560"/>
            <a:ext cx="3218688" cy="1115568"/>
          </a:xfrm>
          <a:prstGeom prst="roundRect">
            <a:avLst>
              <a:gd name="adj" fmla="val 6557"/>
            </a:avLst>
          </a:prstGeom>
          <a:solidFill>
            <a:srgbClr val="DDF0F1"/>
          </a:solidFill>
          <a:ln w="12700">
            <a:solidFill>
              <a:srgbClr val="DDF0F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13816" y="4572000"/>
            <a:ext cx="2944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C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93.94–100%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822960" y="514807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C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all-explainer agreement; invalidated by decision saturation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80560" y="4480560"/>
            <a:ext cx="3218688" cy="1115568"/>
          </a:xfrm>
          <a:prstGeom prst="roundRect">
            <a:avLst>
              <a:gd name="adj" fmla="val 6557"/>
            </a:avLst>
          </a:prstGeom>
          <a:solidFill>
            <a:srgbClr val="F7EDD8"/>
          </a:solidFill>
          <a:ln w="12700">
            <a:solidFill>
              <a:srgbClr val="F7EDD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17720" y="4572000"/>
            <a:ext cx="2944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47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46.99–106.86 s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4626864" y="514807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B47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NCD permutation time per dataset–method cell over five seeds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284464" y="4480560"/>
            <a:ext cx="3218688" cy="1115568"/>
          </a:xfrm>
          <a:prstGeom prst="roundRect">
            <a:avLst>
              <a:gd name="adj" fmla="val 6557"/>
            </a:avLst>
          </a:prstGeom>
          <a:solidFill>
            <a:srgbClr val="F1E5ED"/>
          </a:solidFill>
          <a:ln w="12700">
            <a:solidFill>
              <a:srgbClr val="F1E5E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21624" y="4572000"/>
            <a:ext cx="2944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3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3569–4057×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8430768" y="514807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7C3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fixed-rule decision time, despite only 3.29–3.65% of explanation time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1481328" y="5989320"/>
            <a:ext cx="9217152" cy="420624"/>
          </a:xfrm>
          <a:prstGeom prst="roundRect">
            <a:avLst>
              <a:gd name="adj" fmla="val 17391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00784" y="603504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Decision: the calibrated rule is currently less selective and more expensive than the matched fixed controls.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" y="6565392"/>
            <a:ext cx="10287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q/Jaccard sensitivity and runtime aggregation for the 20-run subset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11109960" y="65471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27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NSL-KDD 25-run drift slice: saturation persists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learners × five seeds; matched performance aggregation remains queued.</a:t>
            </a:r>
            <a:endParaRPr lang="en-US" sz="1150" dirty="0"/>
          </a:p>
        </p:txBody>
      </p:sp>
      <p:pic>
        <p:nvPicPr>
          <p:cNvPr id="4" name="Image 0" descr="C:\Users\PC\Documents\Codex\2026-07-10\he-l\work\github_private_current\paper_ncd\figures\nsl_25run_drift_sat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1170432"/>
            <a:ext cx="7973568" cy="4407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668512" y="1298448"/>
            <a:ext cx="2779776" cy="4242816"/>
          </a:xfrm>
          <a:prstGeom prst="roundRect">
            <a:avLst>
              <a:gd name="adj" fmla="val 2632"/>
            </a:avLst>
          </a:prstGeom>
          <a:solidFill>
            <a:srgbClr val="F6F8FA"/>
          </a:solidFill>
          <a:ln w="12700">
            <a:solidFill>
              <a:srgbClr val="CBD5DE"/>
            </a:solidFill>
            <a:prstDash val="solid"/>
          </a:ln>
          <a:effectLst>
            <a:outerShdw sx="100000" sy="100000" kx="0" ky="0" algn="bl" rotWithShape="0" blurRad="15240" dist="50800" dir="2700000">
              <a:srgbClr val="7D8B9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942832" y="1664208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9B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154 / 157</a:t>
            </a:r>
            <a:endParaRPr lang="en-US" sz="3300" dirty="0"/>
          </a:p>
        </p:txBody>
      </p:sp>
      <p:sp>
        <p:nvSpPr>
          <p:cNvPr id="7" name="Text 4"/>
          <p:cNvSpPr/>
          <p:nvPr/>
        </p:nvSpPr>
        <p:spPr>
          <a:xfrm>
            <a:off x="8979408" y="2258568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units marked by NCD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979408" y="2907792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C3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147 / 157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979408" y="3346704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marked at q = 0.01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979408" y="3950208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7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 / 68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979408" y="4407408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future-observed units are positive; no comparison group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906256" y="5102352"/>
            <a:ext cx="2304288" cy="310896"/>
          </a:xfrm>
          <a:prstGeom prst="roundRect">
            <a:avLst>
              <a:gd name="adj" fmla="val 23529"/>
            </a:avLst>
          </a:prstGeom>
          <a:solidFill>
            <a:srgbClr val="7C3F68"/>
          </a:solidFill>
          <a:ln w="12700">
            <a:solidFill>
              <a:srgbClr val="7C3F6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79408" y="510235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DETECTOR VALIDITY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1371600" y="5852160"/>
            <a:ext cx="9473184" cy="475488"/>
          </a:xfrm>
          <a:prstGeom prst="roundRect">
            <a:avLst>
              <a:gd name="adj" fmla="val 1538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600200" y="5925312"/>
            <a:ext cx="9015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Finding: a completed larger slice confirms saturation; it does not establish prediction, causality, governance, or innovation.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594360" y="6565392"/>
            <a:ext cx="10287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DICC jobs 483664 and 483686; protected 25-run NSL-KDD drift evidence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11109960" y="65471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57200"/>
            <a:ext cx="2377440" cy="310896"/>
          </a:xfrm>
          <a:prstGeom prst="roundRect">
            <a:avLst>
              <a:gd name="adj" fmla="val 23529"/>
            </a:avLst>
          </a:prstGeom>
          <a:solidFill>
            <a:srgbClr val="0C7C86"/>
          </a:solidFill>
          <a:ln w="12700">
            <a:solidFill>
              <a:srgbClr val="0C7C8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EVIDENCE VERDICT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13232" y="1078992"/>
            <a:ext cx="67208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measurement works.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innovation claim does not—yet.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49808" y="267004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356B4D"/>
          </a:solidFill>
          <a:ln w="12700">
            <a:solidFill>
              <a:srgbClr val="356B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700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21408" y="2642616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Repeated explanations and intervention constructions are auditable.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49808" y="361188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7C3F68"/>
          </a:solidFill>
          <a:ln w="12700">
            <a:solidFill>
              <a:srgbClr val="7C3F6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611880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21408" y="3584448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NCD ties B2 on eligible positives, adds one false positive, and marks 154/157 silent units in the completed NSL drift slice.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49808" y="45537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B47B18"/>
          </a:solidFill>
          <a:ln w="12700">
            <a:solidFill>
              <a:srgbClr val="B47B1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55371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21408" y="452628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 NSL performance, the other three datasets, cross-explainer validity, future-recall relation, and RQ3 governance.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412480" y="1078992"/>
            <a:ext cx="2926080" cy="4535424"/>
          </a:xfrm>
          <a:prstGeom prst="roundRect">
            <a:avLst>
              <a:gd name="adj" fmla="val 2500"/>
            </a:avLst>
          </a:prstGeom>
          <a:solidFill>
            <a:srgbClr val="132D45"/>
          </a:solidFill>
          <a:ln w="12700">
            <a:solidFill>
              <a:srgbClr val="2644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05088" y="141732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HPC completion path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723376" y="2029968"/>
            <a:ext cx="22860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registered owned jobs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complete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queued or dependency-held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primary runs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performance aggregations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drift aggregations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duplicate submission.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49808" y="5852160"/>
            <a:ext cx="10405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C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current result establishes substantive innovation, cross-domain generality, or validated governance.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94360" y="6565392"/>
            <a:ext cx="10287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D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audit matched NSL performance and each remaining terminal protected result before replacing interim tables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1109960" y="65471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5D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Universiti Malaya research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NCD Evidence Update — Architecture and Results</dc:title>
  <dc:subject>Noise-calibrated silent explanation drift evidence update</dc:subject>
  <dc:creator>OFRA research project</dc:creator>
  <cp:lastModifiedBy>OFRA research project</cp:lastModifiedBy>
  <cp:revision>1</cp:revision>
  <dcterms:created xsi:type="dcterms:W3CDTF">2026-10-10T13:31:47Z</dcterms:created>
  <dcterms:modified xsi:type="dcterms:W3CDTF">2026-10-10T13:31:47Z</dcterms:modified>
</cp:coreProperties>
</file>